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3" r:id="rId3"/>
    <p:sldId id="257" r:id="rId4"/>
    <p:sldId id="259" r:id="rId5"/>
    <p:sldId id="260" r:id="rId6"/>
    <p:sldId id="261" r:id="rId7"/>
    <p:sldId id="262" r:id="rId8"/>
    <p:sldId id="263" r:id="rId9"/>
    <p:sldId id="264" r:id="rId10"/>
    <p:sldId id="265" r:id="rId11"/>
    <p:sldId id="266" r:id="rId12"/>
    <p:sldId id="269" r:id="rId13"/>
    <p:sldId id="271" r:id="rId14"/>
    <p:sldId id="272" r:id="rId15"/>
    <p:sldId id="270" r:id="rId16"/>
    <p:sldId id="267" r:id="rId17"/>
    <p:sldId id="274" r:id="rId18"/>
    <p:sldId id="268"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2" d="100"/>
          <a:sy n="72" d="100"/>
        </p:scale>
        <p:origin x="1326"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F8CFA630-13BB-46C4-BD44-B2C5F9B66074}" type="datetimeFigureOut">
              <a:rPr lang="en-US" smtClean="0"/>
              <a:pPr/>
              <a:t>11/23/2017</a:t>
            </a:fld>
            <a:endParaRPr lang="en-US" dirty="0">
              <a:solidFill>
                <a:srgbClr val="FFFFFF"/>
              </a:solidFill>
            </a:endParaRPr>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kumimoji="0" lang="en-US" dirty="0">
              <a:solidFill>
                <a:srgbClr val="FFFFFF"/>
              </a:solidFill>
            </a:endParaRPr>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BC5217A8-0E06-4059-AC45-433E2E67A85D}" type="slidenum">
              <a:rPr kumimoji="0" lang="en-US" smtClean="0"/>
              <a:pPr/>
              <a:t>‹#›</a:t>
            </a:fld>
            <a:endParaRPr kumimoji="0" lang="en-US" dirty="0">
              <a:solidFill>
                <a:srgbClr val="FFFFFF"/>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8CFA630-13BB-46C4-BD44-B2C5F9B66074}" type="datetimeFigureOut">
              <a:rPr lang="en-US" smtClean="0"/>
              <a:pPr/>
              <a:t>11/23/2017</a:t>
            </a:fld>
            <a:endParaRPr lang="en-US"/>
          </a:p>
        </p:txBody>
      </p:sp>
      <p:sp>
        <p:nvSpPr>
          <p:cNvPr id="5" name="Footer Placeholder 4"/>
          <p:cNvSpPr>
            <a:spLocks noGrp="1"/>
          </p:cNvSpPr>
          <p:nvPr>
            <p:ph type="ftr" sz="quarter" idx="11"/>
          </p:nvPr>
        </p:nvSpPr>
        <p:spPr/>
        <p:txBody>
          <a:bodyPr/>
          <a:lstStyle>
            <a:extLst/>
          </a:lstStyle>
          <a:p>
            <a:endParaRPr kumimoji="0" lang="en-US"/>
          </a:p>
        </p:txBody>
      </p:sp>
      <p:sp>
        <p:nvSpPr>
          <p:cNvPr id="6" name="Slide Number Placeholder 5"/>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F8CFA630-13BB-46C4-BD44-B2C5F9B66074}" type="datetimeFigureOut">
              <a:rPr lang="en-US" smtClean="0"/>
              <a:pPr/>
              <a:t>11/23/2017</a:t>
            </a:fld>
            <a:endParaRPr lang="en-US">
              <a:solidFill>
                <a:schemeClr val="tx2"/>
              </a:solidFill>
            </a:endParaRPr>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kumimoji="0" lang="en-US" dirty="0">
              <a:solidFill>
                <a:schemeClr val="tx2"/>
              </a:solidFill>
            </a:endParaRPr>
          </a:p>
        </p:txBody>
      </p:sp>
      <p:sp>
        <p:nvSpPr>
          <p:cNvPr id="6" name="Slide Number Placeholder 5"/>
          <p:cNvSpPr>
            <a:spLocks noGrp="1"/>
          </p:cNvSpPr>
          <p:nvPr>
            <p:ph type="sldNum" sz="quarter" idx="12"/>
          </p:nvPr>
        </p:nvSpPr>
        <p:spPr>
          <a:xfrm>
            <a:off x="6733952" y="6555112"/>
            <a:ext cx="588336" cy="228600"/>
          </a:xfrm>
        </p:spPr>
        <p:txBody>
          <a:bodyPr/>
          <a:lstStyle>
            <a:extLst/>
          </a:lstStyle>
          <a:p>
            <a:fld id="{BC5217A8-0E06-4059-AC45-433E2E67A85D}" type="slidenum">
              <a:rPr kumimoji="0" lang="en-US" smtClean="0"/>
              <a:pPr/>
              <a:t>‹#›</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F8CFA630-13BB-46C4-BD44-B2C5F9B66074}" type="datetimeFigureOut">
              <a:rPr lang="en-US" smtClean="0"/>
              <a:pPr/>
              <a:t>11/23/2017</a:t>
            </a:fld>
            <a:endParaRPr lang="en-US"/>
          </a:p>
        </p:txBody>
      </p:sp>
      <p:sp>
        <p:nvSpPr>
          <p:cNvPr id="6" name="Footer Placeholder 5"/>
          <p:cNvSpPr>
            <a:spLocks noGrp="1"/>
          </p:cNvSpPr>
          <p:nvPr>
            <p:ph type="ftr" sz="quarter" idx="11"/>
          </p:nvPr>
        </p:nvSpPr>
        <p:spPr/>
        <p:txBody>
          <a:bodyPr/>
          <a:lstStyle>
            <a:extLst/>
          </a:lstStyle>
          <a:p>
            <a:endParaRPr kumimoji="0" lang="en-US"/>
          </a:p>
        </p:txBody>
      </p:sp>
      <p:sp>
        <p:nvSpPr>
          <p:cNvPr id="7" name="Slide Number Placeholder 6"/>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F8CFA630-13BB-46C4-BD44-B2C5F9B66074}" type="datetimeFigureOut">
              <a:rPr lang="en-US" smtClean="0"/>
              <a:pPr/>
              <a:t>11/23/2017</a:t>
            </a:fld>
            <a:endParaRPr lang="en-US"/>
          </a:p>
        </p:txBody>
      </p:sp>
      <p:sp>
        <p:nvSpPr>
          <p:cNvPr id="8" name="Footer Placeholder 7"/>
          <p:cNvSpPr>
            <a:spLocks noGrp="1"/>
          </p:cNvSpPr>
          <p:nvPr>
            <p:ph type="ftr" sz="quarter" idx="11"/>
          </p:nvPr>
        </p:nvSpPr>
        <p:spPr/>
        <p:txBody>
          <a:bodyPr/>
          <a:lstStyle>
            <a:extLst/>
          </a:lstStyle>
          <a:p>
            <a:endParaRPr kumimoji="0" lang="en-US"/>
          </a:p>
        </p:txBody>
      </p:sp>
      <p:sp>
        <p:nvSpPr>
          <p:cNvPr id="9" name="Slide Number Placeholder 8"/>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F8CFA630-13BB-46C4-BD44-B2C5F9B66074}" type="datetimeFigureOut">
              <a:rPr lang="en-US" smtClean="0"/>
              <a:pPr/>
              <a:t>11/23/2017</a:t>
            </a:fld>
            <a:endParaRPr lang="en-US"/>
          </a:p>
        </p:txBody>
      </p:sp>
      <p:sp>
        <p:nvSpPr>
          <p:cNvPr id="4" name="Footer Placeholder 3"/>
          <p:cNvSpPr>
            <a:spLocks noGrp="1"/>
          </p:cNvSpPr>
          <p:nvPr>
            <p:ph type="ftr" sz="quarter" idx="11"/>
          </p:nvPr>
        </p:nvSpPr>
        <p:spPr/>
        <p:txBody>
          <a:bodyPr/>
          <a:lstStyle>
            <a:extLst/>
          </a:lstStyle>
          <a:p>
            <a:endParaRPr kumimoji="0" lang="en-US"/>
          </a:p>
        </p:txBody>
      </p:sp>
      <p:sp>
        <p:nvSpPr>
          <p:cNvPr id="5" name="Slide Number Placeholder 4"/>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F8CFA630-13BB-46C4-BD44-B2C5F9B66074}" type="datetimeFigureOut">
              <a:rPr lang="en-US" smtClean="0"/>
              <a:pPr/>
              <a:t>11/23/2017</a:t>
            </a:fld>
            <a:endParaRPr lang="en-US" dirty="0">
              <a:solidFill>
                <a:schemeClr val="tx2"/>
              </a:solidFill>
            </a:endParaRPr>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kumimoji="0" lang="en-US" dirty="0">
              <a:solidFill>
                <a:schemeClr val="tx2"/>
              </a:solidFill>
            </a:endParaRPr>
          </a:p>
        </p:txBody>
      </p:sp>
      <p:sp>
        <p:nvSpPr>
          <p:cNvPr id="4" name="Slide Number Placeholder 3"/>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F8CFA630-13BB-46C4-BD44-B2C5F9B66074}" type="datetimeFigureOut">
              <a:rPr lang="en-US" smtClean="0"/>
              <a:pPr/>
              <a:t>11/23/2017</a:t>
            </a:fld>
            <a:endParaRPr lang="en-US"/>
          </a:p>
        </p:txBody>
      </p:sp>
      <p:sp>
        <p:nvSpPr>
          <p:cNvPr id="6" name="Footer Placeholder 5"/>
          <p:cNvSpPr>
            <a:spLocks noGrp="1"/>
          </p:cNvSpPr>
          <p:nvPr>
            <p:ph type="ftr" sz="quarter" idx="11"/>
          </p:nvPr>
        </p:nvSpPr>
        <p:spPr/>
        <p:txBody>
          <a:bodyPr/>
          <a:lstStyle>
            <a:extLst/>
          </a:lstStyle>
          <a:p>
            <a:endParaRPr kumimoji="0" lang="en-US"/>
          </a:p>
        </p:txBody>
      </p:sp>
      <p:sp>
        <p:nvSpPr>
          <p:cNvPr id="7" name="Slide Number Placeholder 6"/>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F8CFA630-13BB-46C4-BD44-B2C5F9B66074}" type="datetimeFigureOut">
              <a:rPr lang="en-US" smtClean="0"/>
              <a:pPr/>
              <a:t>11/23/2017</a:t>
            </a:fld>
            <a:endParaRPr lang="en-US"/>
          </a:p>
        </p:txBody>
      </p:sp>
      <p:sp>
        <p:nvSpPr>
          <p:cNvPr id="6" name="Footer Placeholder 5"/>
          <p:cNvSpPr>
            <a:spLocks noGrp="1"/>
          </p:cNvSpPr>
          <p:nvPr>
            <p:ph type="ftr" sz="quarter" idx="11"/>
          </p:nvPr>
        </p:nvSpPr>
        <p:spPr/>
        <p:txBody>
          <a:bodyPr/>
          <a:lstStyle>
            <a:extLst/>
          </a:lstStyle>
          <a:p>
            <a:endParaRPr kumimoji="0" lang="en-US"/>
          </a:p>
        </p:txBody>
      </p:sp>
      <p:sp>
        <p:nvSpPr>
          <p:cNvPr id="7" name="Slide Number Placeholder 6"/>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8CFA630-13BB-46C4-BD44-B2C5F9B66074}" type="datetimeFigureOut">
              <a:rPr lang="en-US" smtClean="0"/>
              <a:pPr/>
              <a:t>11/23/2017</a:t>
            </a:fld>
            <a:endParaRPr lang="en-US"/>
          </a:p>
        </p:txBody>
      </p:sp>
      <p:sp>
        <p:nvSpPr>
          <p:cNvPr id="5" name="Footer Placeholder 4"/>
          <p:cNvSpPr>
            <a:spLocks noGrp="1"/>
          </p:cNvSpPr>
          <p:nvPr>
            <p:ph type="ftr" sz="quarter" idx="11"/>
          </p:nvPr>
        </p:nvSpPr>
        <p:spPr/>
        <p:txBody>
          <a:bodyPr/>
          <a:lstStyle>
            <a:extLst/>
          </a:lstStyle>
          <a:p>
            <a:endParaRPr kumimoji="0" lang="en-US"/>
          </a:p>
        </p:txBody>
      </p:sp>
      <p:sp>
        <p:nvSpPr>
          <p:cNvPr id="6" name="Slide Number Placeholder 5"/>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F8CFA630-13BB-46C4-BD44-B2C5F9B66074}" type="datetimeFigureOut">
              <a:rPr lang="en-US" smtClean="0"/>
              <a:pPr/>
              <a:t>11/23/2017</a:t>
            </a:fld>
            <a:endParaRPr lang="en-US" dirty="0"/>
          </a:p>
        </p:txBody>
      </p:sp>
      <p:sp>
        <p:nvSpPr>
          <p:cNvPr id="5" name="Footer Placeholder 4"/>
          <p:cNvSpPr>
            <a:spLocks noGrp="1"/>
          </p:cNvSpPr>
          <p:nvPr>
            <p:ph type="ftr" sz="quarter" idx="11"/>
          </p:nvPr>
        </p:nvSpPr>
        <p:spPr>
          <a:xfrm>
            <a:off x="457200" y="6556248"/>
            <a:ext cx="3657600" cy="228600"/>
          </a:xfrm>
        </p:spPr>
        <p:txBody>
          <a:bodyPr/>
          <a:lstStyle>
            <a:extLst/>
          </a:lstStyle>
          <a:p>
            <a:endParaRPr kumimoji="0" lang="en-US" dirty="0"/>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BC5217A8-0E06-4059-AC45-433E2E67A85D}" type="slidenum">
              <a:rPr kumimoji="0" lang="en-US" smtClean="0"/>
              <a:pPr/>
              <a:t>‹#›</a:t>
            </a:fld>
            <a:endParaRPr kumimoji="0" lang="en-US" dirty="0">
              <a:solidFill>
                <a:schemeClr val="tx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F8CFA630-13BB-46C4-BD44-B2C5F9B66074}" type="datetimeFigureOut">
              <a:rPr lang="en-US" smtClean="0"/>
              <a:pPr/>
              <a:t>11/23/2017</a:t>
            </a:fld>
            <a:endParaRPr lang="en-US" sz="1000" dirty="0">
              <a:solidFill>
                <a:schemeClr val="tx2"/>
              </a:solidFill>
            </a:endParaRPr>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pPr algn="r" eaLnBrk="1" latinLnBrk="0" hangingPunct="1"/>
            <a:endParaRPr kumimoji="0" lang="en-US" sz="1000" dirty="0">
              <a:solidFill>
                <a:schemeClr val="tx2"/>
              </a:solidFill>
            </a:endParaRPr>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pPr algn="r" eaLnBrk="1" latinLnBrk="0" hangingPunct="1"/>
            <a:fld id="{BC5217A8-0E06-4059-AC45-433E2E67A85D}" type="slidenum">
              <a:rPr kumimoji="0" lang="en-US" smtClean="0"/>
              <a:pPr algn="r" eaLnBrk="1" latinLnBrk="0" hangingPunct="1"/>
              <a:t>‹#›</a:t>
            </a:fld>
            <a:endParaRPr kumimoji="0" lang="en-US" sz="1100" dirty="0">
              <a:solidFill>
                <a:schemeClr val="tx2"/>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OBSTACLE DETECTION USING IR SENSOR</a:t>
            </a:r>
            <a:endParaRPr lang="en-US" dirty="0"/>
          </a:p>
        </p:txBody>
      </p:sp>
      <p:sp>
        <p:nvSpPr>
          <p:cNvPr id="3" name="Subtitle 2"/>
          <p:cNvSpPr>
            <a:spLocks noGrp="1"/>
          </p:cNvSpPr>
          <p:nvPr>
            <p:ph type="subTitle" idx="1"/>
          </p:nvPr>
        </p:nvSpPr>
        <p:spPr/>
        <p:txBody>
          <a:bodyPr/>
          <a:lstStyle/>
          <a:p>
            <a:r>
              <a:rPr lang="en-US" dirty="0" smtClean="0"/>
              <a:t>MINIPROJECT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u="sng" dirty="0" smtClean="0"/>
              <a:t>TEAM MEMBERS</a:t>
            </a:r>
          </a:p>
          <a:p>
            <a:pPr marL="0" indent="0">
              <a:buNone/>
            </a:pPr>
            <a:r>
              <a:rPr lang="en-US" dirty="0"/>
              <a:t> </a:t>
            </a:r>
            <a:r>
              <a:rPr lang="en-US" dirty="0" smtClean="0"/>
              <a:t>        </a:t>
            </a:r>
          </a:p>
          <a:p>
            <a:pPr marL="0" indent="0">
              <a:buNone/>
            </a:pPr>
            <a:r>
              <a:rPr lang="en-US" sz="2200" dirty="0" smtClean="0">
                <a:latin typeface="Times New Roman" panose="02020603050405020304" pitchFamily="18" charset="0"/>
                <a:cs typeface="Times New Roman" panose="02020603050405020304" pitchFamily="18" charset="0"/>
              </a:rPr>
              <a:t>C.NAGENDRA (14691A04B3)</a:t>
            </a:r>
          </a:p>
          <a:p>
            <a:pPr marL="0" indent="0">
              <a:buNone/>
            </a:pPr>
            <a:r>
              <a:rPr lang="en-US" sz="2200" dirty="0" smtClean="0">
                <a:latin typeface="Times New Roman" panose="02020603050405020304" pitchFamily="18" charset="0"/>
                <a:cs typeface="Times New Roman" panose="02020603050405020304" pitchFamily="18" charset="0"/>
              </a:rPr>
              <a:t>B. NAGA RAMMOHAN (14691A04B1)</a:t>
            </a:r>
          </a:p>
          <a:p>
            <a:pPr marL="0" indent="0">
              <a:buNone/>
            </a:pPr>
            <a:r>
              <a:rPr lang="en-US" sz="2200" dirty="0" smtClean="0">
                <a:latin typeface="Times New Roman" panose="02020603050405020304" pitchFamily="18" charset="0"/>
                <a:cs typeface="Times New Roman" panose="02020603050405020304" pitchFamily="18" charset="0"/>
              </a:rPr>
              <a:t>N. KAILASH PREETHAM (14691A0476)</a:t>
            </a:r>
          </a:p>
          <a:p>
            <a:pPr marL="0" indent="0">
              <a:buNone/>
            </a:pPr>
            <a:r>
              <a:rPr lang="en-US" sz="2200" dirty="0" smtClean="0">
                <a:latin typeface="Times New Roman" panose="02020603050405020304" pitchFamily="18" charset="0"/>
                <a:cs typeface="Times New Roman" panose="02020603050405020304" pitchFamily="18" charset="0"/>
              </a:rPr>
              <a:t>D. NAVAKISHORE (14691A04B6)</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657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p:txBody>
          <a:bodyPr/>
          <a:lstStyle/>
          <a:p>
            <a:pPr marL="0" indent="0">
              <a:buNone/>
            </a:pPr>
            <a:endParaRPr lang="en-US" dirty="0" smtClean="0"/>
          </a:p>
          <a:p>
            <a:r>
              <a:rPr lang="en-US" dirty="0" smtClean="0"/>
              <a:t>Introduction</a:t>
            </a:r>
          </a:p>
          <a:p>
            <a:r>
              <a:rPr lang="en-US" dirty="0" smtClean="0"/>
              <a:t>Hardware Components</a:t>
            </a:r>
          </a:p>
          <a:p>
            <a:r>
              <a:rPr lang="en-US" dirty="0" smtClean="0"/>
              <a:t>Circuit Diagram &amp; Working Principle</a:t>
            </a:r>
          </a:p>
          <a:p>
            <a:r>
              <a:rPr lang="en-US" dirty="0" smtClean="0"/>
              <a:t>Software Used</a:t>
            </a:r>
          </a:p>
          <a:p>
            <a:r>
              <a:rPr lang="en-US" dirty="0" smtClean="0"/>
              <a:t>Applications</a:t>
            </a:r>
          </a:p>
          <a:p>
            <a:r>
              <a:rPr lang="en-US" dirty="0" smtClean="0"/>
              <a:t>Conclusion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lnSpcReduction="10000"/>
          </a:bodyPr>
          <a:lstStyle/>
          <a:p>
            <a:pPr fontAlgn="base"/>
            <a:r>
              <a:rPr lang="en-IN" sz="2200" dirty="0">
                <a:latin typeface="Times New Roman" panose="02020603050405020304" pitchFamily="18" charset="0"/>
                <a:cs typeface="Times New Roman" panose="02020603050405020304" pitchFamily="18" charset="0"/>
              </a:rPr>
              <a:t>Now day’s many industries are using robots due to their high level of performance and reliability and which is a great help for human beings. The obstacle avoidance </a:t>
            </a:r>
            <a:r>
              <a:rPr lang="en-IN" sz="2200" dirty="0" smtClean="0">
                <a:latin typeface="Times New Roman" panose="02020603050405020304" pitchFamily="18" charset="0"/>
                <a:cs typeface="Times New Roman" panose="02020603050405020304" pitchFamily="18" charset="0"/>
              </a:rPr>
              <a:t>robotics</a:t>
            </a:r>
            <a:r>
              <a:rPr lang="en-IN" sz="2200" dirty="0">
                <a:latin typeface="Times New Roman" panose="02020603050405020304" pitchFamily="18" charset="0"/>
                <a:cs typeface="Times New Roman" panose="02020603050405020304" pitchFamily="18" charset="0"/>
              </a:rPr>
              <a:t> </a:t>
            </a:r>
            <a:r>
              <a:rPr lang="en-IN" sz="2200" dirty="0" smtClean="0">
                <a:latin typeface="Times New Roman" panose="02020603050405020304" pitchFamily="18" charset="0"/>
                <a:cs typeface="Times New Roman" panose="02020603050405020304" pitchFamily="18" charset="0"/>
              </a:rPr>
              <a:t>is </a:t>
            </a:r>
            <a:r>
              <a:rPr lang="en-IN" sz="2200" dirty="0">
                <a:latin typeface="Times New Roman" panose="02020603050405020304" pitchFamily="18" charset="0"/>
                <a:cs typeface="Times New Roman" panose="02020603050405020304" pitchFamily="18" charset="0"/>
              </a:rPr>
              <a:t>used for detecting obstacles and avoiding the collision. This is an autonomous robot. The design of obstacle avoidance robot requires the integration of many sensors according to their task</a:t>
            </a:r>
            <a:r>
              <a:rPr lang="en-IN"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fontAlgn="base"/>
            <a:r>
              <a:rPr lang="en-IN" sz="2200" dirty="0">
                <a:latin typeface="Times New Roman" panose="02020603050405020304" pitchFamily="18" charset="0"/>
                <a:cs typeface="Times New Roman" panose="02020603050405020304" pitchFamily="18" charset="0"/>
              </a:rPr>
              <a:t>The obstacle detection is primary requirement of this autonomous robot. The robot gets the information from surrounding area through mounted sensors on the robot. Some sensing devices used for obstacle detection like bump sensor, infrared sensor, ultrasonic sensor etc. Ultrasonic sensor is most suitable for obstacle detection and it is of low cost and has high ranging capability.</a:t>
            </a:r>
            <a:endParaRPr lang="en-US" sz="2200"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components</a:t>
            </a:r>
            <a:endParaRPr lang="en-US" dirty="0"/>
          </a:p>
        </p:txBody>
      </p:sp>
      <p:sp>
        <p:nvSpPr>
          <p:cNvPr id="3" name="Content Placeholder 2"/>
          <p:cNvSpPr>
            <a:spLocks noGrp="1"/>
          </p:cNvSpPr>
          <p:nvPr>
            <p:ph idx="1"/>
          </p:nvPr>
        </p:nvSpPr>
        <p:spPr/>
        <p:txBody>
          <a:bodyPr/>
          <a:lstStyle/>
          <a:p>
            <a:endParaRPr lang="en-US" dirty="0" smtClean="0"/>
          </a:p>
          <a:p>
            <a:r>
              <a:rPr lang="en-US" dirty="0" smtClean="0"/>
              <a:t>IR Sensor</a:t>
            </a:r>
          </a:p>
          <a:p>
            <a:r>
              <a:rPr lang="en-US" dirty="0" smtClean="0"/>
              <a:t>Arduino</a:t>
            </a:r>
          </a:p>
          <a:p>
            <a:r>
              <a:rPr lang="en-US" dirty="0" smtClean="0"/>
              <a:t>LED</a:t>
            </a:r>
          </a:p>
          <a:p>
            <a:r>
              <a:rPr lang="en-US" dirty="0" smtClean="0"/>
              <a:t>DC </a:t>
            </a:r>
            <a:r>
              <a:rPr lang="en-US" dirty="0" smtClean="0"/>
              <a:t>Motor</a:t>
            </a:r>
          </a:p>
          <a:p>
            <a:r>
              <a:rPr lang="en-US" dirty="0" smtClean="0"/>
              <a:t>Breadboard</a:t>
            </a:r>
          </a:p>
          <a:p>
            <a:r>
              <a:rPr lang="en-US" dirty="0" smtClean="0"/>
              <a:t>Jumper Wires</a:t>
            </a:r>
          </a:p>
          <a:p>
            <a:r>
              <a:rPr lang="en-US" dirty="0" smtClean="0"/>
              <a:t>Buzzer</a:t>
            </a:r>
            <a:endParaRPr lang="en-US" dirty="0" smtClean="0"/>
          </a:p>
          <a:p>
            <a:pPr lvl="1"/>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7239000" cy="4846320"/>
          </a:xfrm>
        </p:spPr>
        <p:txBody>
          <a:bodyPr/>
          <a:lstStyle/>
          <a:p>
            <a:r>
              <a:rPr lang="en-US" sz="2800" u="sng" dirty="0" smtClean="0">
                <a:latin typeface="Times New Roman" pitchFamily="18" charset="0"/>
                <a:cs typeface="Times New Roman" pitchFamily="18" charset="0"/>
              </a:rPr>
              <a:t>IR Sensor:</a:t>
            </a:r>
          </a:p>
          <a:p>
            <a:pPr algn="just">
              <a:buNone/>
            </a:pPr>
            <a:r>
              <a:rPr lang="en-US" sz="2800" dirty="0" smtClean="0">
                <a:latin typeface="Times New Roman" pitchFamily="18" charset="0"/>
                <a:cs typeface="Times New Roman" pitchFamily="18" charset="0"/>
              </a:rPr>
              <a:t>         An Infrared sensor is an electronic device. It can measure the heat of an object as well as detects the motion of the object.</a:t>
            </a:r>
          </a:p>
          <a:p>
            <a:pPr algn="just">
              <a:buNone/>
            </a:pPr>
            <a:r>
              <a:rPr lang="en-US" sz="2800" dirty="0" smtClean="0">
                <a:latin typeface="Times New Roman" pitchFamily="18" charset="0"/>
                <a:cs typeface="Times New Roman" pitchFamily="18" charset="0"/>
              </a:rPr>
              <a:t>         The basic concept of an Infrared Sensor which is used as Obstacle detector is to transmit an infrared signal, this infrared signal bounces from the surface of an object and the signal is received at the infrared receiver.</a:t>
            </a:r>
          </a:p>
          <a:p>
            <a:pPr>
              <a:buNone/>
            </a:pPr>
            <a:endParaRPr lang="en-US" sz="28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5181600"/>
            <a:ext cx="4267200" cy="701040"/>
          </a:xfrm>
        </p:spPr>
        <p:txBody>
          <a:bodyPr>
            <a:normAutofit/>
          </a:bodyPr>
          <a:lstStyle/>
          <a:p>
            <a:r>
              <a:rPr lang="en-US" sz="2500" dirty="0" smtClean="0">
                <a:latin typeface="Times New Roman" pitchFamily="18" charset="0"/>
                <a:cs typeface="Times New Roman" pitchFamily="18" charset="0"/>
              </a:rPr>
              <a:t>IR working principle</a:t>
            </a:r>
            <a:endParaRPr lang="en-US" sz="2500" dirty="0">
              <a:latin typeface="Times New Roman" pitchFamily="18" charset="0"/>
              <a:cs typeface="Times New Roman" pitchFamily="18" charset="0"/>
            </a:endParaRPr>
          </a:p>
        </p:txBody>
      </p:sp>
      <p:pic>
        <p:nvPicPr>
          <p:cNvPr id="2050" name="Picture 2"/>
          <p:cNvPicPr>
            <a:picLocks noGrp="1" noChangeAspect="1" noChangeArrowheads="1"/>
          </p:cNvPicPr>
          <p:nvPr>
            <p:ph idx="1"/>
          </p:nvPr>
        </p:nvPicPr>
        <p:blipFill>
          <a:blip r:embed="rId2"/>
          <a:srcRect/>
          <a:stretch>
            <a:fillRect/>
          </a:stretch>
        </p:blipFill>
        <p:spPr bwMode="auto">
          <a:xfrm>
            <a:off x="1981200" y="1828800"/>
            <a:ext cx="4363508" cy="28956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sz="2800" u="sng" dirty="0" smtClean="0"/>
              <a:t>Arduino:</a:t>
            </a:r>
          </a:p>
          <a:p>
            <a:pPr algn="just">
              <a:buNone/>
            </a:pPr>
            <a:r>
              <a:rPr lang="en-US" sz="2800" dirty="0" smtClean="0"/>
              <a:t>      Arduino board designs use a variety of microprocessors and controllers. The boards are equipped with sets of digital and analog I/O pins that may be interfaced to various expansion boards(</a:t>
            </a:r>
            <a:r>
              <a:rPr lang="en-US" sz="2800" dirty="0" err="1" smtClean="0"/>
              <a:t>eg</a:t>
            </a:r>
            <a:r>
              <a:rPr lang="en-US" sz="2800" dirty="0" smtClean="0"/>
              <a:t>: GSM Module) and other circuits.</a:t>
            </a:r>
          </a:p>
          <a:p>
            <a:pPr algn="just">
              <a:buNone/>
            </a:pPr>
            <a:r>
              <a:rPr lang="en-US" sz="2800" dirty="0" smtClean="0"/>
              <a:t>     The boards feature serial communications interfaces, including Universal Serial Bus (USB) on some models, which are also used for loading programs from personal computers.</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smtClean="0"/>
          </a:p>
          <a:p>
            <a:pPr>
              <a:buNone/>
            </a:pPr>
            <a:r>
              <a:rPr lang="en-US" dirty="0" smtClean="0"/>
              <a:t>        The microcontrollers are typically programmed using a dialect of features from the programming languages C and C++. In addition to using traditional compiler tool-chains, the Arduino project provides an integrated development environment(IDE) based on the processing language project.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7772400" cy="5181600"/>
          </a:xfrm>
        </p:spPr>
        <p:txBody>
          <a:bodyPr>
            <a:normAutofit/>
          </a:bodyPr>
          <a:lstStyle/>
          <a:p>
            <a:r>
              <a:rPr lang="en-US" u="sng" dirty="0" smtClean="0"/>
              <a:t>LED</a:t>
            </a:r>
          </a:p>
          <a:p>
            <a:pPr marL="0" indent="0">
              <a:buNone/>
            </a:pPr>
            <a:r>
              <a:rPr lang="en-US" sz="2800" dirty="0">
                <a:latin typeface="Times New Roman" panose="02020603050405020304" pitchFamily="18" charset="0"/>
                <a:cs typeface="Times New Roman" panose="02020603050405020304" pitchFamily="18" charset="0"/>
              </a:rPr>
              <a:t>A light-emitting diode (LED) is a two-lead semiconductor light source. It is a p–n junction diode that emits light when activated. When a suitable voltage is applied to the leads, electrons are able to recombine with electron holes within the device, releasing energy in the form of photons. This effect is called electroluminescence, and the color of the light (corresponding to the energy of the photon) is determined by the energy band gap of the semiconductor.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he symbol of LED is similar to the normal p-n junction diode except that it contains arrows pointing away from the diode indicating that "/>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1200" y="3276600"/>
            <a:ext cx="3476625" cy="2590800"/>
          </a:xfrm>
          <a:prstGeom prst="rect">
            <a:avLst/>
          </a:prstGeom>
          <a:noFill/>
          <a:ln>
            <a:noFill/>
          </a:ln>
        </p:spPr>
      </p:pic>
      <p:sp>
        <p:nvSpPr>
          <p:cNvPr id="5" name="Rectangle 4"/>
          <p:cNvSpPr/>
          <p:nvPr/>
        </p:nvSpPr>
        <p:spPr>
          <a:xfrm>
            <a:off x="1028699" y="1066800"/>
            <a:ext cx="5905501" cy="1815882"/>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LEDs are typically small (less than 1 mm) and integrated optical components may be used to shape the radiation pattern.</a:t>
            </a:r>
          </a:p>
        </p:txBody>
      </p:sp>
    </p:spTree>
    <p:extLst>
      <p:ext uri="{BB962C8B-B14F-4D97-AF65-F5344CB8AC3E}">
        <p14:creationId xmlns:p14="http://schemas.microsoft.com/office/powerpoint/2010/main" val="3404502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161" y="762001"/>
            <a:ext cx="7239000" cy="1143000"/>
          </a:xfrm>
        </p:spPr>
        <p:txBody>
          <a:bodyPr>
            <a:normAutofit fontScale="90000"/>
          </a:bodyPr>
          <a:lstStyle/>
          <a:p>
            <a:r>
              <a:rPr lang="en-US" dirty="0" smtClean="0"/>
              <a:t/>
            </a:r>
            <a:br>
              <a:rPr lang="en-US" dirty="0" smtClean="0"/>
            </a:br>
            <a:r>
              <a:rPr lang="en-US" dirty="0"/>
              <a:t/>
            </a:r>
            <a:br>
              <a:rPr lang="en-US" dirty="0"/>
            </a:br>
            <a:r>
              <a:rPr lang="en-US" dirty="0" smtClean="0"/>
              <a:t>Circuit </a:t>
            </a:r>
            <a:r>
              <a:rPr lang="en-US" dirty="0"/>
              <a:t>Diagram &amp; Working Principle</a:t>
            </a:r>
            <a:br>
              <a:rPr lang="en-US" dirty="0"/>
            </a:br>
            <a:endParaRPr lang="en-US" dirty="0"/>
          </a:p>
        </p:txBody>
      </p:sp>
      <p:pic>
        <p:nvPicPr>
          <p:cNvPr id="4" name="Content Placeholder 3"/>
          <p:cNvPicPr>
            <a:picLocks noGrp="1"/>
          </p:cNvPicPr>
          <p:nvPr>
            <p:ph idx="1"/>
          </p:nvPr>
        </p:nvPicPr>
        <p:blipFill>
          <a:blip r:embed="rId2"/>
          <a:stretch>
            <a:fillRect/>
          </a:stretch>
        </p:blipFill>
        <p:spPr>
          <a:xfrm>
            <a:off x="1152524" y="1905001"/>
            <a:ext cx="6010275" cy="3847306"/>
          </a:xfrm>
          <a:prstGeom prst="rect">
            <a:avLst/>
          </a:prstGeom>
        </p:spPr>
      </p:pic>
    </p:spTree>
    <p:extLst>
      <p:ext uri="{BB962C8B-B14F-4D97-AF65-F5344CB8AC3E}">
        <p14:creationId xmlns:p14="http://schemas.microsoft.com/office/powerpoint/2010/main" val="292626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7239000" cy="5617536"/>
          </a:xfrm>
        </p:spPr>
        <p:txBody>
          <a:bodyPr>
            <a:normAutofit fontScale="70000" lnSpcReduction="20000"/>
          </a:bodyPr>
          <a:lstStyle/>
          <a:p>
            <a:pPr marL="0" indent="0">
              <a:buNone/>
            </a:pPr>
            <a:r>
              <a:rPr lang="en-US" dirty="0" smtClean="0"/>
              <a:t>       </a:t>
            </a:r>
            <a:r>
              <a:rPr lang="en-US" sz="3200" dirty="0" smtClean="0">
                <a:latin typeface="Times New Roman" panose="02020603050405020304" pitchFamily="18" charset="0"/>
                <a:cs typeface="Times New Roman" panose="02020603050405020304" pitchFamily="18" charset="0"/>
              </a:rPr>
              <a:t>An </a:t>
            </a:r>
            <a:r>
              <a:rPr lang="en-US" sz="3200" dirty="0">
                <a:latin typeface="Times New Roman" panose="02020603050405020304" pitchFamily="18" charset="0"/>
                <a:cs typeface="Times New Roman" panose="02020603050405020304" pitchFamily="18" charset="0"/>
              </a:rPr>
              <a:t>IR sensor consists of an IR LED and an IR Photodiode; together they are called as Photo–Coupler or </a:t>
            </a:r>
            <a:r>
              <a:rPr lang="en-US" sz="3200" dirty="0" err="1" smtClean="0">
                <a:latin typeface="Times New Roman" panose="02020603050405020304" pitchFamily="18" charset="0"/>
                <a:cs typeface="Times New Roman" panose="02020603050405020304" pitchFamily="18" charset="0"/>
              </a:rPr>
              <a:t>Opto</a:t>
            </a:r>
            <a:r>
              <a:rPr lang="en-US" sz="3200" dirty="0" smtClean="0">
                <a:latin typeface="Times New Roman" panose="02020603050405020304" pitchFamily="18" charset="0"/>
                <a:cs typeface="Times New Roman" panose="02020603050405020304" pitchFamily="18" charset="0"/>
              </a:rPr>
              <a:t>–Coupler</a:t>
            </a:r>
            <a:r>
              <a:rPr lang="en-US" sz="3200" dirty="0">
                <a:latin typeface="Times New Roman" panose="02020603050405020304" pitchFamily="18" charset="0"/>
                <a:cs typeface="Times New Roman" panose="02020603050405020304" pitchFamily="18" charset="0"/>
              </a:rPr>
              <a:t>. As said before</a:t>
            </a:r>
            <a:r>
              <a:rPr lang="en-US" sz="3200" dirty="0" smtClean="0">
                <a:latin typeface="Times New Roman" panose="02020603050405020304" pitchFamily="18" charset="0"/>
                <a:cs typeface="Times New Roman" panose="02020603050405020304" pitchFamily="18" charset="0"/>
              </a:rPr>
              <a:t>, the </a:t>
            </a:r>
            <a:r>
              <a:rPr lang="en-US" sz="3200" dirty="0">
                <a:latin typeface="Times New Roman" panose="02020603050405020304" pitchFamily="18" charset="0"/>
                <a:cs typeface="Times New Roman" panose="02020603050405020304" pitchFamily="18" charset="0"/>
              </a:rPr>
              <a:t>Infrared Obstacle Sensor has </a:t>
            </a:r>
            <a:r>
              <a:rPr lang="en-US" sz="3200" dirty="0" smtClean="0">
                <a:latin typeface="Times New Roman" panose="02020603050405020304" pitchFamily="18" charset="0"/>
                <a:cs typeface="Times New Roman" panose="02020603050405020304" pitchFamily="18" charset="0"/>
              </a:rPr>
              <a:t>built-in </a:t>
            </a:r>
            <a:r>
              <a:rPr lang="en-US" sz="3200" dirty="0">
                <a:latin typeface="Times New Roman" panose="02020603050405020304" pitchFamily="18" charset="0"/>
                <a:cs typeface="Times New Roman" panose="02020603050405020304" pitchFamily="18" charset="0"/>
              </a:rPr>
              <a:t>IR transmitter and IR receiver. Infrared Transmitter is a light emitting diode (LED) which emits infrared radiations. Hence, they are called IR LED’s. Even though an IR LED looks like a normal LED, the radiation emitted by it  is invisible to the human eye.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smtClean="0">
                <a:latin typeface="Times New Roman" panose="02020603050405020304" pitchFamily="18" charset="0"/>
                <a:cs typeface="Times New Roman" panose="02020603050405020304" pitchFamily="18" charset="0"/>
              </a:rPr>
              <a:t>         Infrared </a:t>
            </a:r>
            <a:r>
              <a:rPr lang="en-US" sz="3200" dirty="0">
                <a:latin typeface="Times New Roman" panose="02020603050405020304" pitchFamily="18" charset="0"/>
                <a:cs typeface="Times New Roman" panose="02020603050405020304" pitchFamily="18" charset="0"/>
              </a:rPr>
              <a:t>receivers are also called as infrared sensors as they detect the radiation from an IR transmitter. IR receivers come in the form of photodiodes and phototransistors. Infrared Photodiodes are different from normal photo diodes as they detect only infrared radiation. When the IR transmitter emits radiation, it reaches the object and some of the radiation reflects back to the IR receiver. Based on the intensity of the reception by the IR receiver, the output of the sensor is defined.</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0277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INTERFACING IR SENSOR WITH ARDUINO</a:t>
            </a:r>
            <a:r>
              <a:rPr lang="en-US" dirty="0"/>
              <a:t/>
            </a:r>
            <a:br>
              <a:rPr lang="en-US" dirty="0"/>
            </a:br>
            <a:endParaRPr lang="en-US" dirty="0"/>
          </a:p>
        </p:txBody>
      </p:sp>
      <p:pic>
        <p:nvPicPr>
          <p:cNvPr id="4" name="Content Placeholder 3"/>
          <p:cNvPicPr>
            <a:picLocks noGrp="1"/>
          </p:cNvPicPr>
          <p:nvPr>
            <p:ph idx="1"/>
          </p:nvPr>
        </p:nvPicPr>
        <p:blipFill>
          <a:blip r:embed="rId2"/>
          <a:stretch>
            <a:fillRect/>
          </a:stretch>
        </p:blipFill>
        <p:spPr>
          <a:xfrm>
            <a:off x="1524000" y="1600200"/>
            <a:ext cx="4800600" cy="4572000"/>
          </a:xfrm>
          <a:prstGeom prst="rect">
            <a:avLst/>
          </a:prstGeom>
        </p:spPr>
      </p:pic>
    </p:spTree>
    <p:extLst>
      <p:ext uri="{BB962C8B-B14F-4D97-AF65-F5344CB8AC3E}">
        <p14:creationId xmlns:p14="http://schemas.microsoft.com/office/powerpoint/2010/main" val="4084519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used</a:t>
            </a:r>
            <a:endParaRPr lang="en-US" dirty="0"/>
          </a:p>
        </p:txBody>
      </p:sp>
      <p:sp>
        <p:nvSpPr>
          <p:cNvPr id="3" name="Content Placeholder 2"/>
          <p:cNvSpPr>
            <a:spLocks noGrp="1"/>
          </p:cNvSpPr>
          <p:nvPr>
            <p:ph idx="1"/>
          </p:nvPr>
        </p:nvSpPr>
        <p:spPr/>
        <p:txBody>
          <a:bodyPr/>
          <a:lstStyle/>
          <a:p>
            <a:r>
              <a:rPr lang="en-US" dirty="0" smtClean="0"/>
              <a:t>Embedded C</a:t>
            </a:r>
          </a:p>
          <a:p>
            <a:pPr marL="0" indent="0">
              <a:buNone/>
            </a:pPr>
            <a:r>
              <a:rPr lang="en-US" b="1" dirty="0"/>
              <a:t> </a:t>
            </a:r>
            <a:r>
              <a:rPr lang="en-IN" dirty="0"/>
              <a:t>There is a two level programming in which embedded c is used in controlling the hardware which produces the distance and angle measurements using </a:t>
            </a:r>
            <a:r>
              <a:rPr lang="en-IN" dirty="0" smtClean="0"/>
              <a:t>servo.</a:t>
            </a:r>
            <a:endParaRPr lang="en-US" dirty="0"/>
          </a:p>
          <a:p>
            <a:endParaRPr lang="en-US" dirty="0"/>
          </a:p>
        </p:txBody>
      </p:sp>
    </p:spTree>
    <p:extLst>
      <p:ext uri="{BB962C8B-B14F-4D97-AF65-F5344CB8AC3E}">
        <p14:creationId xmlns:p14="http://schemas.microsoft.com/office/powerpoint/2010/main" val="1222178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a:t>
            </a:r>
            <a:endParaRPr lang="en-US" dirty="0"/>
          </a:p>
        </p:txBody>
      </p:sp>
      <p:sp>
        <p:nvSpPr>
          <p:cNvPr id="3" name="Content Placeholder 2"/>
          <p:cNvSpPr>
            <a:spLocks noGrp="1"/>
          </p:cNvSpPr>
          <p:nvPr>
            <p:ph idx="1"/>
          </p:nvPr>
        </p:nvSpPr>
        <p:spPr/>
        <p:txBody>
          <a:bodyPr>
            <a:normAutofit/>
          </a:bodyPr>
          <a:lstStyle/>
          <a:p>
            <a:r>
              <a:rPr lang="en-US" dirty="0" smtClean="0"/>
              <a:t>it</a:t>
            </a:r>
            <a:r>
              <a:rPr lang="en-US" dirty="0"/>
              <a:t> is used for detecting obstacles and avoiding the </a:t>
            </a:r>
            <a:r>
              <a:rPr lang="en-US" dirty="0" smtClean="0"/>
              <a:t>collision.</a:t>
            </a:r>
          </a:p>
          <a:p>
            <a:r>
              <a:rPr lang="en-US" dirty="0"/>
              <a:t>Especially military applications</a:t>
            </a:r>
          </a:p>
          <a:p>
            <a:r>
              <a:rPr lang="en-US" dirty="0"/>
              <a:t>It can be used for city </a:t>
            </a:r>
            <a:r>
              <a:rPr lang="en-US" dirty="0" smtClean="0"/>
              <a:t>wars.</a:t>
            </a:r>
          </a:p>
          <a:p>
            <a:r>
              <a:rPr lang="en-US" dirty="0"/>
              <a:t>This logic has been specially designed for </a:t>
            </a:r>
            <a:r>
              <a:rPr lang="en-US" dirty="0" smtClean="0"/>
              <a:t>vacuum cleaner</a:t>
            </a:r>
            <a:r>
              <a:rPr lang="en-US" dirty="0"/>
              <a:t>. By using heavy rating motors ,</a:t>
            </a:r>
            <a:r>
              <a:rPr lang="en-US" dirty="0" smtClean="0"/>
              <a:t>strong mechanical </a:t>
            </a:r>
            <a:r>
              <a:rPr lang="en-US" dirty="0"/>
              <a:t>structure and using highly </a:t>
            </a:r>
            <a:r>
              <a:rPr lang="en-US" dirty="0" smtClean="0"/>
              <a:t>sensitive obstacle </a:t>
            </a:r>
            <a:r>
              <a:rPr lang="en-US" dirty="0"/>
              <a:t>sensors, it efficiently work as </a:t>
            </a:r>
            <a:r>
              <a:rPr lang="en-US" dirty="0" smtClean="0"/>
              <a:t>vacuum </a:t>
            </a:r>
            <a:r>
              <a:rPr lang="en-US" dirty="0"/>
              <a:t>cleaner</a:t>
            </a:r>
            <a:r>
              <a:rPr lang="en-US" dirty="0" smtClean="0"/>
              <a:t>.</a:t>
            </a:r>
          </a:p>
          <a:p>
            <a:r>
              <a:rPr lang="en-US" dirty="0"/>
              <a:t>It can be used in </a:t>
            </a:r>
            <a:r>
              <a:rPr lang="en-US" dirty="0" smtClean="0"/>
              <a:t>mines.</a:t>
            </a:r>
            <a:endParaRPr lang="en-US" dirty="0"/>
          </a:p>
          <a:p>
            <a:pPr marL="0" indent="0">
              <a:buNone/>
            </a:pPr>
            <a:endParaRPr lang="en-US" dirty="0"/>
          </a:p>
        </p:txBody>
      </p:sp>
    </p:spTree>
    <p:extLst>
      <p:ext uri="{BB962C8B-B14F-4D97-AF65-F5344CB8AC3E}">
        <p14:creationId xmlns:p14="http://schemas.microsoft.com/office/powerpoint/2010/main" val="2778599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5341062"/>
              </p:ext>
            </p:extLst>
          </p:nvPr>
        </p:nvGraphicFramePr>
        <p:xfrm>
          <a:off x="1066799" y="2133600"/>
          <a:ext cx="5791201" cy="2514600"/>
        </p:xfrm>
        <a:graphic>
          <a:graphicData uri="http://schemas.openxmlformats.org/drawingml/2006/table">
            <a:tbl>
              <a:tblPr firstRow="1" firstCol="1" bandRow="1">
                <a:tableStyleId>{5C22544A-7EE6-4342-B048-85BDC9FD1C3A}</a:tableStyleId>
              </a:tblPr>
              <a:tblGrid>
                <a:gridCol w="1930168"/>
                <a:gridCol w="1930168"/>
                <a:gridCol w="1930865"/>
              </a:tblGrid>
              <a:tr h="502920">
                <a:tc>
                  <a:txBody>
                    <a:bodyPr/>
                    <a:lstStyle/>
                    <a:p>
                      <a:pPr marL="0" marR="0">
                        <a:lnSpc>
                          <a:spcPct val="115000"/>
                        </a:lnSpc>
                        <a:spcBef>
                          <a:spcPts val="0"/>
                        </a:spcBef>
                        <a:spcAft>
                          <a:spcPts val="1000"/>
                        </a:spcAft>
                      </a:pPr>
                      <a:r>
                        <a:rPr lang="en-IN" sz="1200" dirty="0" err="1">
                          <a:effectLst/>
                        </a:rPr>
                        <a:t>S.No</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IN" sz="1200">
                          <a:effectLst/>
                        </a:rPr>
                        <a:t>Distance(cm)</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IN" sz="1200">
                          <a:effectLst/>
                        </a:rPr>
                        <a:t>Sensor detection</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r h="502920">
                <a:tc>
                  <a:txBody>
                    <a:bodyPr/>
                    <a:lstStyle/>
                    <a:p>
                      <a:pPr marL="0" marR="0">
                        <a:lnSpc>
                          <a:spcPct val="115000"/>
                        </a:lnSpc>
                        <a:spcBef>
                          <a:spcPts val="0"/>
                        </a:spcBef>
                        <a:spcAft>
                          <a:spcPts val="1000"/>
                        </a:spcAft>
                      </a:pPr>
                      <a:r>
                        <a:rPr lang="en-IN"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IN"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IN" sz="1200">
                          <a:effectLst/>
                        </a:rPr>
                        <a:t>Yes</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r h="502920">
                <a:tc>
                  <a:txBody>
                    <a:bodyPr/>
                    <a:lstStyle/>
                    <a:p>
                      <a:pPr marL="0" marR="0">
                        <a:lnSpc>
                          <a:spcPct val="115000"/>
                        </a:lnSpc>
                        <a:spcBef>
                          <a:spcPts val="0"/>
                        </a:spcBef>
                        <a:spcAft>
                          <a:spcPts val="1000"/>
                        </a:spcAft>
                      </a:pPr>
                      <a:r>
                        <a:rPr lang="en-IN"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IN" sz="12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IN" sz="1200">
                          <a:effectLst/>
                        </a:rPr>
                        <a:t>Yes</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r h="502920">
                <a:tc>
                  <a:txBody>
                    <a:bodyPr/>
                    <a:lstStyle/>
                    <a:p>
                      <a:pPr marL="0" marR="0">
                        <a:lnSpc>
                          <a:spcPct val="115000"/>
                        </a:lnSpc>
                        <a:spcBef>
                          <a:spcPts val="0"/>
                        </a:spcBef>
                        <a:spcAft>
                          <a:spcPts val="1000"/>
                        </a:spcAft>
                      </a:pPr>
                      <a:r>
                        <a:rPr lang="en-IN"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IN" sz="1200">
                          <a:effectLst/>
                        </a:rPr>
                        <a:t>10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IN" sz="1200" dirty="0">
                          <a:effectLst/>
                        </a:rPr>
                        <a:t>Yes</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r h="502920">
                <a:tc>
                  <a:txBody>
                    <a:bodyPr/>
                    <a:lstStyle/>
                    <a:p>
                      <a:pPr marL="0" marR="0">
                        <a:lnSpc>
                          <a:spcPct val="115000"/>
                        </a:lnSpc>
                        <a:spcBef>
                          <a:spcPts val="0"/>
                        </a:spcBef>
                        <a:spcAft>
                          <a:spcPts val="1000"/>
                        </a:spcAft>
                      </a:pPr>
                      <a:r>
                        <a:rPr lang="en-IN" sz="12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IN" sz="1200">
                          <a:effectLst/>
                        </a:rPr>
                        <a:t>15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IN" sz="1200" dirty="0">
                          <a:effectLst/>
                        </a:rPr>
                        <a:t>No</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2386979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	</a:t>
            </a:r>
            <a:endParaRPr lang="en-US" dirty="0"/>
          </a:p>
        </p:txBody>
      </p:sp>
      <p:sp>
        <p:nvSpPr>
          <p:cNvPr id="3" name="Content Placeholder 2"/>
          <p:cNvSpPr>
            <a:spLocks noGrp="1"/>
          </p:cNvSpPr>
          <p:nvPr>
            <p:ph idx="1"/>
          </p:nvPr>
        </p:nvSpPr>
        <p:spPr/>
        <p:txBody>
          <a:bodyPr/>
          <a:lstStyle/>
          <a:p>
            <a:r>
              <a:rPr lang="en-IN" dirty="0" smtClean="0"/>
              <a:t> </a:t>
            </a:r>
            <a:r>
              <a:rPr lang="en-IN" dirty="0"/>
              <a:t>The prototype of the project concentrates on using IR sensor to detect the nearby obstacle/human/vehicle in the range of 10cm and made the LED, the BUZZER on and makes motor to </a:t>
            </a:r>
            <a:r>
              <a:rPr lang="en-IN" dirty="0" smtClean="0"/>
              <a:t>stop</a:t>
            </a:r>
            <a:endParaRPr lang="en-US" dirty="0"/>
          </a:p>
        </p:txBody>
      </p:sp>
    </p:spTree>
    <p:extLst>
      <p:ext uri="{BB962C8B-B14F-4D97-AF65-F5344CB8AC3E}">
        <p14:creationId xmlns:p14="http://schemas.microsoft.com/office/powerpoint/2010/main" val="10511068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280</TotalTime>
  <Words>498</Words>
  <Application>Microsoft Office PowerPoint</Application>
  <PresentationFormat>On-screen Show (4:3)</PresentationFormat>
  <Paragraphs>70</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Times New Roman</vt:lpstr>
      <vt:lpstr>Trebuchet MS</vt:lpstr>
      <vt:lpstr>Wingdings</vt:lpstr>
      <vt:lpstr>Wingdings 2</vt:lpstr>
      <vt:lpstr>Opulent</vt:lpstr>
      <vt:lpstr>OBSTACLE DETECTION USING IR SENSOR</vt:lpstr>
      <vt:lpstr>PowerPoint Presentation</vt:lpstr>
      <vt:lpstr>Contents</vt:lpstr>
      <vt:lpstr>Introduction</vt:lpstr>
      <vt:lpstr>Hardware components</vt:lpstr>
      <vt:lpstr>PowerPoint Presentation</vt:lpstr>
      <vt:lpstr>IR working principle</vt:lpstr>
      <vt:lpstr>PowerPoint Presentation</vt:lpstr>
      <vt:lpstr>PowerPoint Presentation</vt:lpstr>
      <vt:lpstr>PowerPoint Presentation</vt:lpstr>
      <vt:lpstr>PowerPoint Presentation</vt:lpstr>
      <vt:lpstr>  Circuit Diagram &amp; Working Principle </vt:lpstr>
      <vt:lpstr>PowerPoint Presentation</vt:lpstr>
      <vt:lpstr>INTERFACING IR SENSOR WITH ARDUINO </vt:lpstr>
      <vt:lpstr>Software used</vt:lpstr>
      <vt:lpstr>Applications</vt:lpstr>
      <vt:lpstr>Result</vt:lpstr>
      <vt:lpstr>Conclusion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OBSTACLE DETECTION USING IR SENSOR</dc:title>
  <dc:creator>user</dc:creator>
  <cp:lastModifiedBy>Nava Navakishore</cp:lastModifiedBy>
  <cp:revision>31</cp:revision>
  <dcterms:created xsi:type="dcterms:W3CDTF">2017-11-20T03:46:43Z</dcterms:created>
  <dcterms:modified xsi:type="dcterms:W3CDTF">2017-11-23T04:59:43Z</dcterms:modified>
</cp:coreProperties>
</file>